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7/30/2022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73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27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7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24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32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0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7/30/2022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5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51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62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76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7/30/2022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48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7/30/2022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44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udashboard.com/importancia-de-la-visualizacion-de-datos/" TargetMode="External"/><Relationship Id="rId2" Type="http://schemas.openxmlformats.org/officeDocument/2006/relationships/hyperlink" Target="https://www.red-tic.unam.mx/content/visualizador-de-big-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s-es/azure/cloud-adoption-framework/govern/policy-compliance/data-classification" TargetMode="External"/><Relationship Id="rId5" Type="http://schemas.openxmlformats.org/officeDocument/2006/relationships/hyperlink" Target="https://www.oas.org/es/sms/cicte/docs/ESP-Clasificacion-de-Datos.pdf" TargetMode="External"/><Relationship Id="rId4" Type="http://schemas.openxmlformats.org/officeDocument/2006/relationships/hyperlink" Target="http://soledadherrlein.blogspot.com/2014/10/dato-informacion-conocimiento-sabiduri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B8505B7-97D5-EC8A-91FE-EF7389C70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8818" y="1038069"/>
            <a:ext cx="6479629" cy="2866405"/>
          </a:xfrm>
        </p:spPr>
        <p:txBody>
          <a:bodyPr>
            <a:normAutofit/>
          </a:bodyPr>
          <a:lstStyle/>
          <a:p>
            <a:pPr algn="ctr"/>
            <a:r>
              <a:rPr lang="es-CO" dirty="0"/>
              <a:t>Visualización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B738AB-672E-B1D5-1714-9098236AD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8817" y="4376970"/>
            <a:ext cx="6479629" cy="1030423"/>
          </a:xfrm>
        </p:spPr>
        <p:txBody>
          <a:bodyPr>
            <a:normAutofit fontScale="25000" lnSpcReduction="20000"/>
          </a:bodyPr>
          <a:lstStyle/>
          <a:p>
            <a:r>
              <a:rPr lang="es-ES" sz="9600" dirty="0"/>
              <a:t>Diego Caballero Sarmiento</a:t>
            </a:r>
          </a:p>
          <a:p>
            <a:r>
              <a:rPr lang="es-ES" sz="9600" dirty="0"/>
              <a:t>Juan </a:t>
            </a:r>
            <a:r>
              <a:rPr lang="es-ES" sz="9600" dirty="0" err="1"/>
              <a:t>Sebastian</a:t>
            </a:r>
            <a:r>
              <a:rPr lang="es-ES" sz="9600" dirty="0"/>
              <a:t> Vargas</a:t>
            </a:r>
          </a:p>
          <a:p>
            <a:r>
              <a:rPr lang="es-ES" sz="9600" dirty="0"/>
              <a:t>Daniel Mauricio Ardila</a:t>
            </a:r>
          </a:p>
          <a:p>
            <a:endParaRPr lang="es-ES" dirty="0"/>
          </a:p>
          <a:p>
            <a:endParaRPr lang="es-CO" dirty="0"/>
          </a:p>
        </p:txBody>
      </p:sp>
      <p:pic>
        <p:nvPicPr>
          <p:cNvPr id="22" name="Picture 3" descr="Gráficos y números digitales en 3D">
            <a:extLst>
              <a:ext uri="{FF2B5EF4-FFF2-40B4-BE49-F238E27FC236}">
                <a16:creationId xmlns:a16="http://schemas.microsoft.com/office/drawing/2014/main" id="{CACE1B0F-F760-290E-E5BA-FE2058D63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10" r="25170" b="-2"/>
          <a:stretch/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32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3" name="Rectangle 109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70F52D-E3B2-69A6-D7FB-33646114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357" y="770890"/>
            <a:ext cx="5995137" cy="1268984"/>
          </a:xfrm>
        </p:spPr>
        <p:txBody>
          <a:bodyPr>
            <a:normAutofit/>
          </a:bodyPr>
          <a:lstStyle/>
          <a:p>
            <a:r>
              <a:rPr lang="es-ES" sz="3700" dirty="0"/>
              <a:t>Importancia de visualización en </a:t>
            </a:r>
            <a:r>
              <a:rPr lang="es-ES" sz="3700" dirty="0" err="1"/>
              <a:t>big</a:t>
            </a:r>
            <a:r>
              <a:rPr lang="es-ES" sz="3700" dirty="0"/>
              <a:t> data</a:t>
            </a:r>
            <a:endParaRPr lang="es-CO" sz="37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66EF64-6302-7E5C-A5DE-48BF6FFEC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57" y="2160016"/>
            <a:ext cx="5995137" cy="360121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s-ES" sz="2200" dirty="0"/>
              <a:t>El análisis de Big Data ayuda a las organizaciones a aprovechar sus datos y utilizarlos para identificar nuevas oportunidades. para después con una </a:t>
            </a:r>
            <a:r>
              <a:rPr lang="es-ES" sz="2400" dirty="0"/>
              <a:t>visualización</a:t>
            </a:r>
            <a:r>
              <a:rPr lang="es-ES" sz="2200" dirty="0"/>
              <a:t> traducirlo a gráficos que representen el comportamiento de una organización. Teniendo gran importancia ya que puede sugerir el rumbo de toda una organización teniendo como objetivo mejora de procesos, minimización de costos y encontrar oportunidades de crecimiento.</a:t>
            </a:r>
            <a:endParaRPr lang="es-CO" sz="2200" dirty="0"/>
          </a:p>
        </p:txBody>
      </p:sp>
      <p:pic>
        <p:nvPicPr>
          <p:cNvPr id="1030" name="Picture 6" descr="Big Data 4K (2 in 1) by Aslik | VideoHive">
            <a:extLst>
              <a:ext uri="{FF2B5EF4-FFF2-40B4-BE49-F238E27FC236}">
                <a16:creationId xmlns:a16="http://schemas.microsoft.com/office/drawing/2014/main" id="{24EF1685-5F8E-DA45-5520-16E9EE727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959" y="1313555"/>
            <a:ext cx="4334439" cy="243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4" name="Group 1101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103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5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5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6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27" name="Straight Connector 1107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22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B17F5D-443E-32CB-D366-32DC0D05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501867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Importancia de visualización en análisis de datos</a:t>
            </a:r>
            <a:endParaRPr lang="es-CO" sz="2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3C157F-2E88-2820-0524-A8584BF4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5018677" cy="3601212"/>
          </a:xfrm>
        </p:spPr>
        <p:txBody>
          <a:bodyPr>
            <a:normAutofit/>
          </a:bodyPr>
          <a:lstStyle/>
          <a:p>
            <a:r>
              <a:rPr lang="es-ES" sz="2200">
                <a:latin typeface="Libre Baskerville" panose="020B0604020202020204" pitchFamily="2" charset="0"/>
              </a:rPr>
              <a:t>A</a:t>
            </a:r>
            <a:r>
              <a:rPr lang="es-ES" sz="2200" b="0" i="0">
                <a:effectLst/>
                <a:latin typeface="Libre Baskerville" panose="020B0604020202020204" pitchFamily="2" charset="0"/>
              </a:rPr>
              <a:t>yuda a desarrollar estrategias inteligentes,</a:t>
            </a:r>
            <a:r>
              <a:rPr lang="es-CO" sz="2200" b="0" i="0">
                <a:effectLst/>
                <a:latin typeface="Libre Baskerville" panose="02000000000000000000" pitchFamily="2" charset="0"/>
              </a:rPr>
              <a:t> identificar oportunidades, </a:t>
            </a:r>
            <a:r>
              <a:rPr lang="es-ES" sz="2200" b="0" i="0">
                <a:effectLst/>
                <a:latin typeface="Libre Baskerville" panose="020B0604020202020204" pitchFamily="2" charset="0"/>
              </a:rPr>
              <a:t>interpretar grandes conjuntos sin tener que hablar con los clientes o empleados cara a cara o uno a uno. Cuando tenemos una buena visualización </a:t>
            </a:r>
            <a:r>
              <a:rPr lang="es-ES" sz="2200" b="0" i="0">
                <a:effectLst/>
                <a:latin typeface="Libre Baskerville" panose="02000000000000000000" pitchFamily="2" charset="0"/>
              </a:rPr>
              <a:t>podemos tomar decisiones de forma más rápida y certera. </a:t>
            </a:r>
            <a:endParaRPr lang="es-CO" sz="2200"/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1867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BFD251E3-961F-2440-B872-1D2667182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4" y="0"/>
            <a:ext cx="1901687" cy="6858000"/>
            <a:chOff x="10290314" y="0"/>
            <a:chExt cx="1901687" cy="6858000"/>
          </a:xfrm>
        </p:grpSpPr>
        <p:sp>
          <p:nvSpPr>
            <p:cNvPr id="2060" name="Freeform 21">
              <a:extLst>
                <a:ext uri="{FF2B5EF4-FFF2-40B4-BE49-F238E27FC236}">
                  <a16:creationId xmlns:a16="http://schemas.microsoft.com/office/drawing/2014/main" id="{5558ED88-23E3-3941-8644-676CD732E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1" name="Freeform 22">
              <a:extLst>
                <a:ext uri="{FF2B5EF4-FFF2-40B4-BE49-F238E27FC236}">
                  <a16:creationId xmlns:a16="http://schemas.microsoft.com/office/drawing/2014/main" id="{24B1447F-72DA-384E-9D7D-C33A13EF4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2" name="Freeform 23">
              <a:extLst>
                <a:ext uri="{FF2B5EF4-FFF2-40B4-BE49-F238E27FC236}">
                  <a16:creationId xmlns:a16="http://schemas.microsoft.com/office/drawing/2014/main" id="{86089DDC-F160-E24D-A726-0082953C0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3" name="Freeform 24">
              <a:extLst>
                <a:ext uri="{FF2B5EF4-FFF2-40B4-BE49-F238E27FC236}">
                  <a16:creationId xmlns:a16="http://schemas.microsoft.com/office/drawing/2014/main" id="{1A211FA8-50B3-3C4E-A234-1580EA200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4" name="Freeform 25">
              <a:extLst>
                <a:ext uri="{FF2B5EF4-FFF2-40B4-BE49-F238E27FC236}">
                  <a16:creationId xmlns:a16="http://schemas.microsoft.com/office/drawing/2014/main" id="{6A73788D-F322-0047-BF9E-A8E69D845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5" name="Freeform 26">
              <a:extLst>
                <a:ext uri="{FF2B5EF4-FFF2-40B4-BE49-F238E27FC236}">
                  <a16:creationId xmlns:a16="http://schemas.microsoft.com/office/drawing/2014/main" id="{7E90A8A1-A164-EA41-86BB-166893179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6894343D-4C51-384E-BEC6-1517A940C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4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Análisis de negocios, análisis de datos, estadística de investigación,  planificación. hombre trabajando en un escritorio en la oficina | Vector  Premium">
            <a:extLst>
              <a:ext uri="{FF2B5EF4-FFF2-40B4-BE49-F238E27FC236}">
                <a16:creationId xmlns:a16="http://schemas.microsoft.com/office/drawing/2014/main" id="{EA37BA84-BFF6-D159-317C-EF4BEBB36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r="10508"/>
          <a:stretch/>
        </p:blipFill>
        <p:spPr bwMode="auto">
          <a:xfrm>
            <a:off x="6230213" y="768334"/>
            <a:ext cx="5318776" cy="5318776"/>
          </a:xfrm>
          <a:custGeom>
            <a:avLst/>
            <a:gdLst/>
            <a:ahLst/>
            <a:cxnLst/>
            <a:rect l="l" t="t" r="r" b="b"/>
            <a:pathLst>
              <a:path w="5768526" h="5768526">
                <a:moveTo>
                  <a:pt x="2884263" y="0"/>
                </a:moveTo>
                <a:cubicBezTo>
                  <a:pt x="4477197" y="0"/>
                  <a:pt x="5768526" y="1291329"/>
                  <a:pt x="5768526" y="2884263"/>
                </a:cubicBezTo>
                <a:cubicBezTo>
                  <a:pt x="5768526" y="4477197"/>
                  <a:pt x="4477197" y="5768526"/>
                  <a:pt x="2884263" y="5768526"/>
                </a:cubicBezTo>
                <a:cubicBezTo>
                  <a:pt x="1291329" y="5768526"/>
                  <a:pt x="0" y="4477197"/>
                  <a:pt x="0" y="2884263"/>
                </a:cubicBezTo>
                <a:cubicBezTo>
                  <a:pt x="0" y="1291329"/>
                  <a:pt x="1291329" y="0"/>
                  <a:pt x="28842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53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26" name="Rectangle 311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52CDED-C260-8DE6-D414-476AA9C9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501867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Importancia de visualización en inteligencia de datos y ciencia de datos</a:t>
            </a:r>
            <a:endParaRPr lang="es-CO" sz="2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B8DF2-6110-B8CA-3F40-DA86BA455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5018677" cy="3601212"/>
          </a:xfrm>
        </p:spPr>
        <p:txBody>
          <a:bodyPr>
            <a:normAutofit/>
          </a:bodyPr>
          <a:lstStyle/>
          <a:p>
            <a:r>
              <a:rPr lang="es-ES" sz="2200"/>
              <a:t>La visualización en ciencias de datos e inteligencia de datos permite descartar aquellos datos poco representativos o erróneos. Identificar aquellas variables que dependen unas de otras y por lo tanto contienen información redundante. Realizar cortes a los datos para poder observarlos desde diferentes perspectivas</a:t>
            </a:r>
            <a:endParaRPr lang="es-CO" sz="2200"/>
          </a:p>
        </p:txBody>
      </p:sp>
      <p:cxnSp>
        <p:nvCxnSpPr>
          <p:cNvPr id="3127" name="Straight Connector 3115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1867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8" name="Group 3117">
            <a:extLst>
              <a:ext uri="{FF2B5EF4-FFF2-40B4-BE49-F238E27FC236}">
                <a16:creationId xmlns:a16="http://schemas.microsoft.com/office/drawing/2014/main" id="{BFD251E3-961F-2440-B872-1D2667182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4" y="0"/>
            <a:ext cx="1901687" cy="6858000"/>
            <a:chOff x="10290314" y="0"/>
            <a:chExt cx="1901687" cy="6858000"/>
          </a:xfrm>
        </p:grpSpPr>
        <p:sp>
          <p:nvSpPr>
            <p:cNvPr id="3129" name="Freeform 21">
              <a:extLst>
                <a:ext uri="{FF2B5EF4-FFF2-40B4-BE49-F238E27FC236}">
                  <a16:creationId xmlns:a16="http://schemas.microsoft.com/office/drawing/2014/main" id="{5558ED88-23E3-3941-8644-676CD732E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0" name="Freeform 22">
              <a:extLst>
                <a:ext uri="{FF2B5EF4-FFF2-40B4-BE49-F238E27FC236}">
                  <a16:creationId xmlns:a16="http://schemas.microsoft.com/office/drawing/2014/main" id="{24B1447F-72DA-384E-9D7D-C33A13EF4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1" name="Freeform 23">
              <a:extLst>
                <a:ext uri="{FF2B5EF4-FFF2-40B4-BE49-F238E27FC236}">
                  <a16:creationId xmlns:a16="http://schemas.microsoft.com/office/drawing/2014/main" id="{86089DDC-F160-E24D-A726-0082953C0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1" name="Freeform 24">
              <a:extLst>
                <a:ext uri="{FF2B5EF4-FFF2-40B4-BE49-F238E27FC236}">
                  <a16:creationId xmlns:a16="http://schemas.microsoft.com/office/drawing/2014/main" id="{1A211FA8-50B3-3C4E-A234-1580EA200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3" name="Freeform 25">
              <a:extLst>
                <a:ext uri="{FF2B5EF4-FFF2-40B4-BE49-F238E27FC236}">
                  <a16:creationId xmlns:a16="http://schemas.microsoft.com/office/drawing/2014/main" id="{6A73788D-F322-0047-BF9E-A8E69D845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4" name="Freeform 26">
              <a:extLst>
                <a:ext uri="{FF2B5EF4-FFF2-40B4-BE49-F238E27FC236}">
                  <a16:creationId xmlns:a16="http://schemas.microsoft.com/office/drawing/2014/main" id="{7E90A8A1-A164-EA41-86BB-166893179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5" name="Oval 3124">
              <a:extLst>
                <a:ext uri="{FF2B5EF4-FFF2-40B4-BE49-F238E27FC236}">
                  <a16:creationId xmlns:a16="http://schemas.microsoft.com/office/drawing/2014/main" id="{6894343D-4C51-384E-BEC6-1517A940C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4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8" name="Picture 6" descr="Ingeniería en Ciencia de Datos | UPB">
            <a:extLst>
              <a:ext uri="{FF2B5EF4-FFF2-40B4-BE49-F238E27FC236}">
                <a16:creationId xmlns:a16="http://schemas.microsoft.com/office/drawing/2014/main" id="{D29F24BC-773D-830B-D60D-6B29CABDE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3" r="25096"/>
          <a:stretch/>
        </p:blipFill>
        <p:spPr bwMode="auto">
          <a:xfrm>
            <a:off x="5583827" y="1293980"/>
            <a:ext cx="4270040" cy="4270040"/>
          </a:xfrm>
          <a:custGeom>
            <a:avLst/>
            <a:gdLst/>
            <a:ahLst/>
            <a:cxnLst/>
            <a:rect l="l" t="t" r="r" b="b"/>
            <a:pathLst>
              <a:path w="5768526" h="5768526">
                <a:moveTo>
                  <a:pt x="2884263" y="0"/>
                </a:moveTo>
                <a:cubicBezTo>
                  <a:pt x="4477197" y="0"/>
                  <a:pt x="5768526" y="1291329"/>
                  <a:pt x="5768526" y="2884263"/>
                </a:cubicBezTo>
                <a:cubicBezTo>
                  <a:pt x="5768526" y="4477197"/>
                  <a:pt x="4477197" y="5768526"/>
                  <a:pt x="2884263" y="5768526"/>
                </a:cubicBezTo>
                <a:cubicBezTo>
                  <a:pt x="1291329" y="5768526"/>
                  <a:pt x="0" y="4477197"/>
                  <a:pt x="0" y="2884263"/>
                </a:cubicBezTo>
                <a:cubicBezTo>
                  <a:pt x="0" y="1291329"/>
                  <a:pt x="1291329" y="0"/>
                  <a:pt x="28842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42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6" name="Rectangle 411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8" name="Group 4117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19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0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1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22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3B1F1DB-A491-FAAF-E92C-A5375F9E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Niveles de abstracción de la información</a:t>
            </a:r>
            <a:endParaRPr lang="es-CO" sz="2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703CF1-7C27-F1F1-648E-2E2BB2691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>
                <a:latin typeface="Arial" panose="020B0604020202020204" pitchFamily="34" charset="0"/>
              </a:rPr>
              <a:t>C</a:t>
            </a:r>
            <a:r>
              <a:rPr lang="es-ES" b="0" i="0" dirty="0">
                <a:effectLst/>
                <a:latin typeface="Arial" panose="020B0604020202020204" pitchFamily="34" charset="0"/>
              </a:rPr>
              <a:t>onsiste en un modelo jerárquico piramidal, es decir que cada capa se apoya en la capa inferior, ya que sencillamente le da un valor añadido a ésta, dicho valor añadido junto con el valor de la capa inferior dan como resultado una nueva </a:t>
            </a:r>
            <a:r>
              <a:rPr lang="es-ES" dirty="0">
                <a:latin typeface="Arial" panose="020B0604020202020204" pitchFamily="34" charset="0"/>
              </a:rPr>
              <a:t>división</a:t>
            </a:r>
            <a:r>
              <a:rPr lang="es-ES" b="0" i="0" dirty="0">
                <a:effectLst/>
                <a:latin typeface="Arial" panose="020B0604020202020204" pitchFamily="34" charset="0"/>
              </a:rPr>
              <a:t>.</a:t>
            </a:r>
            <a:endParaRPr lang="es-CO" dirty="0"/>
          </a:p>
        </p:txBody>
      </p:sp>
      <p:pic>
        <p:nvPicPr>
          <p:cNvPr id="4098" name="Picture 2" descr="La pirámide del conocimiento: Apuntes para una reflexión">
            <a:extLst>
              <a:ext uri="{FF2B5EF4-FFF2-40B4-BE49-F238E27FC236}">
                <a16:creationId xmlns:a16="http://schemas.microsoft.com/office/drawing/2014/main" id="{40061720-A405-FAE7-88C0-B308FA2D7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" r="4940" b="1"/>
          <a:stretch/>
        </p:blipFill>
        <p:spPr bwMode="auto">
          <a:xfrm>
            <a:off x="20" y="1"/>
            <a:ext cx="692714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24" name="Straight Connector 412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97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58" name="Rectangle 5147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D9F5CD-8B90-F46F-AE29-FBD48765F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64" y="397351"/>
            <a:ext cx="4134538" cy="3927094"/>
          </a:xfrm>
        </p:spPr>
        <p:txBody>
          <a:bodyPr>
            <a:normAutofit/>
          </a:bodyPr>
          <a:lstStyle/>
          <a:p>
            <a:r>
              <a:rPr lang="es-CO" dirty="0"/>
              <a:t>clasificación de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F235E5-0BAB-DBFF-1F6F-CBCA816D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068" y="401761"/>
            <a:ext cx="5958111" cy="21264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000" dirty="0"/>
              <a:t>Los datos describen hechos empíricos, sucesos y entidades. La clasificación de datos permite determinar y asignar valor a los datos de la organización sin embargo la clasificación de datos en particular, varía según el tipo de organización e incluso puede ser diferente según cada una. </a:t>
            </a:r>
            <a:endParaRPr lang="es-CO" sz="2000" dirty="0"/>
          </a:p>
        </p:txBody>
      </p:sp>
      <p:grpSp>
        <p:nvGrpSpPr>
          <p:cNvPr id="5159" name="Group 5149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160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1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2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3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64" name="Straight Connector 5155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Cómo automatizar la clasificación de datos y su protección | Sealpath">
            <a:extLst>
              <a:ext uri="{FF2B5EF4-FFF2-40B4-BE49-F238E27FC236}">
                <a16:creationId xmlns:a16="http://schemas.microsoft.com/office/drawing/2014/main" id="{3BDC0AD3-4B8D-330A-4418-6EF51F244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09" y="2529148"/>
            <a:ext cx="10728825" cy="392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06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88563-8A23-B626-D994-EA3630B8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Bibliografia</a:t>
            </a:r>
            <a:r>
              <a:rPr lang="en-US" dirty="0"/>
              <a:t>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690448-192C-4AB1-3468-F2EFDDD7B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https://www.red-tic.unam.mx/content/visualizador-de-big-data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https://tudashboard.com/importancia-de-la-visualizacion-de-datos/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http://soledadherrlein.blogspot.com/2014/10/dato-informacion-conocimiento-sabiduria.html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https://www.oas.org/es/sms/cicte/docs/ESP-Clasificacion-de-Datos.pdf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https://docs.microsoft.com/es-es/azure/cloud-adoption-framework/govern/policy-compliance/data-classification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167975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AnalogousFromDarkSeedLeftStep">
      <a:dk1>
        <a:srgbClr val="000000"/>
      </a:dk1>
      <a:lt1>
        <a:srgbClr val="FFFFFF"/>
      </a:lt1>
      <a:dk2>
        <a:srgbClr val="1B2C30"/>
      </a:dk2>
      <a:lt2>
        <a:srgbClr val="F2F3F0"/>
      </a:lt2>
      <a:accent1>
        <a:srgbClr val="7F29E7"/>
      </a:accent1>
      <a:accent2>
        <a:srgbClr val="433DDC"/>
      </a:accent2>
      <a:accent3>
        <a:srgbClr val="2971E7"/>
      </a:accent3>
      <a:accent4>
        <a:srgbClr val="17AED5"/>
      </a:accent4>
      <a:accent5>
        <a:srgbClr val="22C2A0"/>
      </a:accent5>
      <a:accent6>
        <a:srgbClr val="16C657"/>
      </a:accent6>
      <a:hlink>
        <a:srgbClr val="339A96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108</TotalTime>
  <Words>371</Words>
  <Application>Microsoft Office PowerPoint</Application>
  <PresentationFormat>Panorámica</PresentationFormat>
  <Paragraphs>20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Libre Baskerville</vt:lpstr>
      <vt:lpstr>Neue Haas Grotesk Text Pro</vt:lpstr>
      <vt:lpstr>PunchcardVTI</vt:lpstr>
      <vt:lpstr>Visualización de Datos</vt:lpstr>
      <vt:lpstr>Importancia de visualización en big data</vt:lpstr>
      <vt:lpstr>Importancia de visualización en análisis de datos</vt:lpstr>
      <vt:lpstr>Importancia de visualización en inteligencia de datos y ciencia de datos</vt:lpstr>
      <vt:lpstr>Niveles de abstracción de la información</vt:lpstr>
      <vt:lpstr>clasificación de los datos</vt:lpstr>
      <vt:lpstr>Bibliografia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de Datos</dc:title>
  <dc:creator>diego caballero</dc:creator>
  <cp:lastModifiedBy>diego caballero</cp:lastModifiedBy>
  <cp:revision>6</cp:revision>
  <dcterms:created xsi:type="dcterms:W3CDTF">2022-07-31T01:26:09Z</dcterms:created>
  <dcterms:modified xsi:type="dcterms:W3CDTF">2022-07-31T03:14:40Z</dcterms:modified>
</cp:coreProperties>
</file>